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8" r:id="rId2"/>
    <p:sldId id="287" r:id="rId3"/>
    <p:sldId id="290" r:id="rId4"/>
    <p:sldId id="289" r:id="rId5"/>
    <p:sldId id="288" r:id="rId6"/>
    <p:sldId id="29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廖添富" initials="廖添富" lastIdx="1" clrIdx="0">
    <p:extLst>
      <p:ext uri="{19B8F6BF-5375-455C-9EA6-DF929625EA0E}">
        <p15:presenceInfo xmlns:p15="http://schemas.microsoft.com/office/powerpoint/2012/main" userId="廖添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80" autoAdjust="0"/>
  </p:normalViewPr>
  <p:slideViewPr>
    <p:cSldViewPr snapToGrid="0">
      <p:cViewPr>
        <p:scale>
          <a:sx n="75" d="100"/>
          <a:sy n="75" d="100"/>
        </p:scale>
        <p:origin x="946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6AEFF-B099-41BB-B2C5-C7627C47E7D5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C5F96-EACD-42D6-93D4-4B4973D58D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20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592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799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9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254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996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BDB06-BAD1-448A-8768-A68E8A026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350AC-5185-4E48-BBF7-7CA1B7DF5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ACF076-F1BE-457D-894B-C42F9682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658CA-331A-4E3B-9BFD-3FF7C183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19ECD6-4A4E-4CB0-81CB-A685D5A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F4FCD-3543-4C78-804D-F2139ADD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0643A4-9BEB-4070-8BEC-470DF0056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376E40-FFB8-42C3-807B-6B37655C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1BD1D-9B88-45CF-909D-883A154C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93D20A-C4CC-42BA-BA8F-D5B75838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53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B9FD4-1640-4291-8C21-9FBA7706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FF97BF-C0A8-4040-A563-EA533462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04422-332B-467F-ACFF-332E27EF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5BF8D-9103-461D-9860-7EC6368D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21419-6728-446E-A804-170F228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46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4C33-ADEE-4C7D-8AA3-364A6717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E52A1E-61AC-4651-B07B-A2BC2485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77D334-3B43-42A2-8514-9B427352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31C6C3-C53F-424C-B7CD-9EEE23AF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7D3F2B-5033-45F7-A1CA-7B6B6ED1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D1DB0-31B1-4D46-B4BB-33BCD69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80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A5F38-3B83-456A-A246-0212E61E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5FE547-B20E-4EF0-A78D-47148FD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3EE9F4-B29B-40BB-A202-A38C479E2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47A837-45CD-40EB-AF75-549622044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4A9F08-729D-45DA-BC14-F23F84443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4574A0B-E4E4-40FB-AFF4-2497817B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859C4F-E154-48A9-B00E-0B85A946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20CF31F-A401-4F5B-B3EE-E12AAFF8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6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3BF39-ECE9-4259-95A6-447CE124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0956C4-7332-429C-9C4A-5833AA02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358D28-3D55-4FD4-95F2-69F3423B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A841EF-17A6-49EB-B550-3258A26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26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8E09A4-14F8-4554-A7AF-677CA7A9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66D64D-29AD-46AE-9C71-D53AEF14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38447F-CEB5-41BB-ADD7-77C8D0CD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80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3A3E1-8E37-4136-8D2C-2C773BC9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ADFCBC-DCAE-4BB9-A4E6-92D2CF56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491ED6-C73C-403B-B27A-0C73D5837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26433B-7B5E-4DA3-9352-9BA58D46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BA4174-943C-4458-89FD-1B7D2D9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05A6D2-779D-4D36-8B3E-A52035CB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31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1A9A9-6A3C-41C4-9800-15AE545D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076499-12F7-475E-99F5-A2A9B81BF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6B6672-CA5F-48FE-81BA-9976EECA4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4CC001-AB97-4C5D-819D-EDCE98C4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DADDF7-DE8E-4EDB-BD5E-ED675320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4A05F5-1061-465D-B93E-143EE726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88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4C9E4-FCB6-4428-BF83-9A4A55C3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E71D40-236C-4288-A677-56CDEDC1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ADF9E0-F866-4859-9504-23768DE1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3064DB-22B2-4F2C-B1A8-A1B7C7BE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695771-F3F4-423A-9E53-42EAB69C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9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4EEAAF-B6F2-4897-91F8-CA9AA07E6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5EB2C6-A5FF-4A60-919D-9F4984876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D53F9C-AB2E-4609-9C3B-20FC3B96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E96EB7-A67F-40B1-94EE-B9522C52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C76E70-AA25-4D1D-B94D-6E924D22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87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2B2DEA-7226-4FDE-9592-41724B65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EB72C6-317A-43C4-821C-ECCBD320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76D16-08FD-496F-810A-0DEA5294A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64084-543B-42CA-A209-CD39C253E9C1}" type="datetimeFigureOut">
              <a:rPr lang="zh-TW" altLang="en-US" smtClean="0"/>
              <a:t>2026/1/19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4BC770-154F-4AFA-AB31-31796BB7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E17C4F-2F43-4911-88B6-AEDDAF8E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2ED539-36B4-4209-89D1-AEDB6CC782D6}"/>
              </a:ext>
            </a:extLst>
          </p:cNvPr>
          <p:cNvSpPr txBox="1"/>
          <p:nvPr/>
        </p:nvSpPr>
        <p:spPr>
          <a:xfrm>
            <a:off x="5619599" y="3059668"/>
            <a:ext cx="1345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554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8F7AE74-4846-4633-AD09-0A35605D2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41" y="1091318"/>
            <a:ext cx="1601082" cy="1342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C8BEABF-5198-4F79-9852-B8A5820EB00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517423" y="1762478"/>
            <a:ext cx="2641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F36F2B-1E71-4E52-8E42-0F6BD21977FF}"/>
              </a:ext>
            </a:extLst>
          </p:cNvPr>
          <p:cNvSpPr txBox="1"/>
          <p:nvPr/>
        </p:nvSpPr>
        <p:spPr>
          <a:xfrm>
            <a:off x="3468511" y="1728725"/>
            <a:ext cx="739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VMD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C05236C-5444-41C8-A834-20846C5225CF}"/>
              </a:ext>
            </a:extLst>
          </p:cNvPr>
          <p:cNvSpPr txBox="1"/>
          <p:nvPr/>
        </p:nvSpPr>
        <p:spPr>
          <a:xfrm>
            <a:off x="916341" y="3104798"/>
            <a:ext cx="222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20% data for testing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3C13B21-5308-4C38-98BB-2758529FFFCC}"/>
              </a:ext>
            </a:extLst>
          </p:cNvPr>
          <p:cNvSpPr txBox="1"/>
          <p:nvPr/>
        </p:nvSpPr>
        <p:spPr>
          <a:xfrm>
            <a:off x="2932288" y="1393146"/>
            <a:ext cx="222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80% training data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45F8AB8C-9121-45EA-8659-1045EE61D9D8}"/>
              </a:ext>
            </a:extLst>
          </p:cNvPr>
          <p:cNvCxnSpPr>
            <a:stCxn id="2" idx="2"/>
          </p:cNvCxnSpPr>
          <p:nvPr/>
        </p:nvCxnSpPr>
        <p:spPr>
          <a:xfrm>
            <a:off x="1716882" y="2433638"/>
            <a:ext cx="0" cy="692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圖片 17">
            <a:extLst>
              <a:ext uri="{FF2B5EF4-FFF2-40B4-BE49-F238E27FC236}">
                <a16:creationId xmlns:a16="http://schemas.microsoft.com/office/drawing/2014/main" id="{F178CEDA-A71E-4A74-A710-979A7C5C67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2" t="17646" r="24119" b="5871"/>
          <a:stretch/>
        </p:blipFill>
        <p:spPr>
          <a:xfrm>
            <a:off x="5159021" y="256635"/>
            <a:ext cx="6445682" cy="3479987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DD8FCA3C-A64F-4D4A-BD70-AA2905BEC8B1}"/>
              </a:ext>
            </a:extLst>
          </p:cNvPr>
          <p:cNvSpPr txBox="1"/>
          <p:nvPr/>
        </p:nvSpPr>
        <p:spPr>
          <a:xfrm>
            <a:off x="7740336" y="0"/>
            <a:ext cx="1726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Generate 5 IMFs</a:t>
            </a:r>
            <a:endParaRPr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3F280A23-B52F-4253-8290-CD4D34E5B8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44" t="4814" r="3700" b="5324"/>
          <a:stretch/>
        </p:blipFill>
        <p:spPr>
          <a:xfrm>
            <a:off x="1907823" y="4485922"/>
            <a:ext cx="2226734" cy="1539428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ED501942-EFD0-4706-B1EF-88F11BCB60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44" t="4814" r="3700" b="5324"/>
          <a:stretch/>
        </p:blipFill>
        <p:spPr>
          <a:xfrm>
            <a:off x="2060223" y="4638322"/>
            <a:ext cx="2226734" cy="1539428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F236E617-93F6-4A44-957D-B135895F03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44" t="4814" r="3700" b="5324"/>
          <a:stretch/>
        </p:blipFill>
        <p:spPr>
          <a:xfrm>
            <a:off x="2212623" y="4790722"/>
            <a:ext cx="2226734" cy="1539428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7F86998-8DBF-4C77-8741-0F7368FC7C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44" t="4814" r="3700" b="5324"/>
          <a:stretch/>
        </p:blipFill>
        <p:spPr>
          <a:xfrm>
            <a:off x="2365023" y="4943122"/>
            <a:ext cx="2226734" cy="1539428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FF67F1D8-29FB-45B7-8910-F9079A9DC8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44" t="4814" r="3700" b="5324"/>
          <a:stretch/>
        </p:blipFill>
        <p:spPr>
          <a:xfrm>
            <a:off x="2517423" y="5095522"/>
            <a:ext cx="2226734" cy="1539428"/>
          </a:xfrm>
          <a:prstGeom prst="rect">
            <a:avLst/>
          </a:prstGeom>
        </p:spPr>
      </p:pic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5C4A22ED-3917-4769-8AAE-885CE7785888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 rot="5400000">
            <a:off x="5326876" y="1430936"/>
            <a:ext cx="749300" cy="53606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3B8BD5D-9AA8-414A-AFD2-A855386396AA}"/>
              </a:ext>
            </a:extLst>
          </p:cNvPr>
          <p:cNvSpPr txBox="1"/>
          <p:nvPr/>
        </p:nvSpPr>
        <p:spPr>
          <a:xfrm>
            <a:off x="3939825" y="3806649"/>
            <a:ext cx="3341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Train each IMFs by LSTM models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080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8F7AE74-4846-4633-AD09-0A35605D2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41" y="1091318"/>
            <a:ext cx="1601082" cy="1342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C8BEABF-5198-4F79-9852-B8A5820EB00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517423" y="1762478"/>
            <a:ext cx="2641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F36F2B-1E71-4E52-8E42-0F6BD21977FF}"/>
              </a:ext>
            </a:extLst>
          </p:cNvPr>
          <p:cNvSpPr txBox="1"/>
          <p:nvPr/>
        </p:nvSpPr>
        <p:spPr>
          <a:xfrm>
            <a:off x="3468511" y="2001900"/>
            <a:ext cx="739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VMD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3C13B21-5308-4C38-98BB-2758529FFFCC}"/>
              </a:ext>
            </a:extLst>
          </p:cNvPr>
          <p:cNvSpPr txBox="1"/>
          <p:nvPr/>
        </p:nvSpPr>
        <p:spPr>
          <a:xfrm>
            <a:off x="2932288" y="1006194"/>
            <a:ext cx="2226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80% training data +</a:t>
            </a:r>
            <a:br>
              <a:rPr lang="en-US" altLang="zh-TW" dirty="0"/>
            </a:br>
            <a:r>
              <a:rPr lang="en-US" altLang="zh-TW" dirty="0"/>
              <a:t>Next day  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D8FCA3C-A64F-4D4A-BD70-AA2905BEC8B1}"/>
              </a:ext>
            </a:extLst>
          </p:cNvPr>
          <p:cNvSpPr txBox="1"/>
          <p:nvPr/>
        </p:nvSpPr>
        <p:spPr>
          <a:xfrm>
            <a:off x="7740336" y="0"/>
            <a:ext cx="1726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Generate 5 IMFs</a:t>
            </a:r>
            <a:endParaRPr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3F280A23-B52F-4253-8290-CD4D34E5B8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4" t="4814" r="3700" b="5324"/>
          <a:stretch/>
        </p:blipFill>
        <p:spPr>
          <a:xfrm>
            <a:off x="2322688" y="4539768"/>
            <a:ext cx="2226734" cy="1539428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ED501942-EFD0-4706-B1EF-88F11BCB60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4" t="4814" r="3700" b="5324"/>
          <a:stretch/>
        </p:blipFill>
        <p:spPr>
          <a:xfrm>
            <a:off x="2475088" y="4692168"/>
            <a:ext cx="2226734" cy="1539428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F236E617-93F6-4A44-957D-B135895F03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4" t="4814" r="3700" b="5324"/>
          <a:stretch/>
        </p:blipFill>
        <p:spPr>
          <a:xfrm>
            <a:off x="2627488" y="4844568"/>
            <a:ext cx="2226734" cy="1539428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7F86998-8DBF-4C77-8741-0F7368FC7C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4" t="4814" r="3700" b="5324"/>
          <a:stretch/>
        </p:blipFill>
        <p:spPr>
          <a:xfrm>
            <a:off x="2779888" y="4996968"/>
            <a:ext cx="2226734" cy="1539428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FF67F1D8-29FB-45B7-8910-F9079A9DC8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4" t="4814" r="3700" b="5324"/>
          <a:stretch/>
        </p:blipFill>
        <p:spPr>
          <a:xfrm>
            <a:off x="2932288" y="5149368"/>
            <a:ext cx="2226734" cy="153942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ECA0DBC-696A-4301-9590-E78BCD4164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22" t="17646" r="24119" b="5871"/>
          <a:stretch/>
        </p:blipFill>
        <p:spPr>
          <a:xfrm>
            <a:off x="5573887" y="388988"/>
            <a:ext cx="5791201" cy="3126636"/>
          </a:xfrm>
          <a:prstGeom prst="rect">
            <a:avLst/>
          </a:prstGeom>
        </p:spPr>
      </p:pic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1D2EF612-2A53-4657-8276-739C3100209B}"/>
              </a:ext>
            </a:extLst>
          </p:cNvPr>
          <p:cNvCxnSpPr/>
          <p:nvPr/>
        </p:nvCxnSpPr>
        <p:spPr>
          <a:xfrm rot="5400000">
            <a:off x="5326876" y="1430936"/>
            <a:ext cx="749300" cy="53606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21D81C9C-2E82-4273-93C8-D38B08D02D8D}"/>
              </a:ext>
            </a:extLst>
          </p:cNvPr>
          <p:cNvSpPr/>
          <p:nvPr/>
        </p:nvSpPr>
        <p:spPr>
          <a:xfrm>
            <a:off x="6333744" y="369332"/>
            <a:ext cx="5031344" cy="511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BA3EA9-E267-439B-BA74-D92A38E2DB5A}"/>
              </a:ext>
            </a:extLst>
          </p:cNvPr>
          <p:cNvSpPr/>
          <p:nvPr/>
        </p:nvSpPr>
        <p:spPr>
          <a:xfrm>
            <a:off x="6333744" y="900189"/>
            <a:ext cx="5031344" cy="511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766004-5C60-43C0-960E-AD146CE967AB}"/>
              </a:ext>
            </a:extLst>
          </p:cNvPr>
          <p:cNvSpPr/>
          <p:nvPr/>
        </p:nvSpPr>
        <p:spPr>
          <a:xfrm>
            <a:off x="6333744" y="1441105"/>
            <a:ext cx="5031344" cy="511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9CD274-C738-4AC7-A238-041A341765A4}"/>
              </a:ext>
            </a:extLst>
          </p:cNvPr>
          <p:cNvSpPr/>
          <p:nvPr/>
        </p:nvSpPr>
        <p:spPr>
          <a:xfrm>
            <a:off x="6333744" y="1982021"/>
            <a:ext cx="5031344" cy="511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32B73B-9210-489F-A5DC-FC9C973B8DE2}"/>
              </a:ext>
            </a:extLst>
          </p:cNvPr>
          <p:cNvSpPr/>
          <p:nvPr/>
        </p:nvSpPr>
        <p:spPr>
          <a:xfrm>
            <a:off x="6333744" y="2512878"/>
            <a:ext cx="5031344" cy="511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CC394F-7491-46AE-B533-41A2E764526E}"/>
              </a:ext>
            </a:extLst>
          </p:cNvPr>
          <p:cNvSpPr/>
          <p:nvPr/>
        </p:nvSpPr>
        <p:spPr>
          <a:xfrm>
            <a:off x="11365088" y="369332"/>
            <a:ext cx="152400" cy="51120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2CFE4F-EA0F-4132-B2F9-F78D9B15BCB1}"/>
              </a:ext>
            </a:extLst>
          </p:cNvPr>
          <p:cNvSpPr/>
          <p:nvPr/>
        </p:nvSpPr>
        <p:spPr>
          <a:xfrm>
            <a:off x="11365088" y="895362"/>
            <a:ext cx="152400" cy="51120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06980D-CC61-403D-A55A-CC04C5A39C97}"/>
              </a:ext>
            </a:extLst>
          </p:cNvPr>
          <p:cNvSpPr/>
          <p:nvPr/>
        </p:nvSpPr>
        <p:spPr>
          <a:xfrm>
            <a:off x="11365088" y="1470820"/>
            <a:ext cx="152400" cy="51120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CD3C5B-C699-451C-BC7F-2BBAFD7BB0AD}"/>
              </a:ext>
            </a:extLst>
          </p:cNvPr>
          <p:cNvSpPr/>
          <p:nvPr/>
        </p:nvSpPr>
        <p:spPr>
          <a:xfrm>
            <a:off x="11365088" y="1982021"/>
            <a:ext cx="152400" cy="51120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87A7766-986D-4D40-83AC-E0B5E3ADD070}"/>
              </a:ext>
            </a:extLst>
          </p:cNvPr>
          <p:cNvSpPr/>
          <p:nvPr/>
        </p:nvSpPr>
        <p:spPr>
          <a:xfrm>
            <a:off x="11365088" y="2522937"/>
            <a:ext cx="152400" cy="51120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732E25D-7830-465E-A247-F5A71F3657B4}"/>
              </a:ext>
            </a:extLst>
          </p:cNvPr>
          <p:cNvSpPr txBox="1"/>
          <p:nvPr/>
        </p:nvSpPr>
        <p:spPr>
          <a:xfrm>
            <a:off x="3210771" y="3498144"/>
            <a:ext cx="3286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Put the 32 length of IMFs data to predict next IMFs point.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BD57B25-D16F-4CAE-9D07-72C3F316E035}"/>
              </a:ext>
            </a:extLst>
          </p:cNvPr>
          <p:cNvSpPr/>
          <p:nvPr/>
        </p:nvSpPr>
        <p:spPr>
          <a:xfrm>
            <a:off x="7224889" y="5225568"/>
            <a:ext cx="2492023" cy="13870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RMSE, MAPE for evaluation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1B73EDF5-EFE3-4EB4-86CB-26A838097155}"/>
              </a:ext>
            </a:extLst>
          </p:cNvPr>
          <p:cNvCxnSpPr>
            <a:cxnSpLocks/>
            <a:stCxn id="31" idx="3"/>
            <a:endCxn id="5" idx="1"/>
          </p:cNvCxnSpPr>
          <p:nvPr/>
        </p:nvCxnSpPr>
        <p:spPr>
          <a:xfrm>
            <a:off x="5159022" y="5919082"/>
            <a:ext cx="2065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64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92A0A8-57D4-4A80-AE52-89D9119F5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719455"/>
            <a:ext cx="10200640" cy="541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0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97D4678-B3E6-4FF0-89FA-D97429A6D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9" y="342194"/>
            <a:ext cx="10950222" cy="581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9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6D9A139-888D-4F08-A105-943E5715DC2D}"/>
              </a:ext>
            </a:extLst>
          </p:cNvPr>
          <p:cNvSpPr txBox="1"/>
          <p:nvPr/>
        </p:nvSpPr>
        <p:spPr>
          <a:xfrm>
            <a:off x="1645920" y="1120676"/>
            <a:ext cx="96113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b="0" i="0" dirty="0">
                <a:effectLst/>
                <a:latin typeface="fkGroteskNeue"/>
              </a:rPr>
              <a:t>端點效應 </a:t>
            </a:r>
            <a:r>
              <a:rPr lang="en-US" altLang="zh-TW" b="0" i="0" dirty="0">
                <a:effectLst/>
                <a:latin typeface="fkGroteskNeue"/>
              </a:rPr>
              <a:t>(End Effect)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effectLst/>
                <a:latin typeface="fkGroteskNeue"/>
              </a:rPr>
              <a:t>VMD (</a:t>
            </a:r>
            <a:r>
              <a:rPr lang="zh-TW" altLang="en-US" b="0" i="0" dirty="0">
                <a:effectLst/>
                <a:latin typeface="fkGroteskNeue"/>
              </a:rPr>
              <a:t>及所有基於頻率分解的算法</a:t>
            </a:r>
            <a:r>
              <a:rPr lang="en-US" altLang="zh-TW" b="0" i="0" dirty="0">
                <a:effectLst/>
                <a:latin typeface="fkGroteskNeue"/>
              </a:rPr>
              <a:t>) </a:t>
            </a:r>
            <a:r>
              <a:rPr lang="zh-TW" altLang="en-US" b="0" i="0" dirty="0">
                <a:effectLst/>
                <a:latin typeface="fkGroteskNeue"/>
              </a:rPr>
              <a:t>需要「看到未來的數據」才能準確畫出當下的曲線。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fkGroteskNeue"/>
              </a:rPr>
              <a:t>在 </a:t>
            </a:r>
            <a:r>
              <a:rPr lang="en-US" altLang="zh-TW" b="0" i="0" dirty="0">
                <a:effectLst/>
                <a:latin typeface="fkGroteskNeue"/>
              </a:rPr>
              <a:t>Rolling Window </a:t>
            </a:r>
            <a:r>
              <a:rPr lang="zh-TW" altLang="en-US" b="0" i="0" dirty="0">
                <a:effectLst/>
                <a:latin typeface="fkGroteskNeue"/>
              </a:rPr>
              <a:t>模式下，我們沒有未來的數據。數據在「今天」戛然而止。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fkGroteskNeue"/>
              </a:rPr>
              <a:t>導致算法在最後一點 </a:t>
            </a:r>
            <a:r>
              <a:rPr lang="en-US" altLang="zh-TW" b="0" i="0" dirty="0">
                <a:effectLst/>
                <a:latin typeface="fkGroteskNeue"/>
              </a:rPr>
              <a:t>(End Point) </a:t>
            </a:r>
            <a:r>
              <a:rPr lang="zh-TW" altLang="en-US" b="0" i="0" dirty="0">
                <a:effectLst/>
                <a:latin typeface="fkGroteskNeue"/>
              </a:rPr>
              <a:t>失去參考，產生的波形會發散、亂飄、或出現不自然的尖刺 </a:t>
            </a:r>
            <a:r>
              <a:rPr lang="en-US" altLang="zh-TW" b="0" i="0" dirty="0">
                <a:effectLst/>
                <a:latin typeface="fkGroteskNeue"/>
              </a:rPr>
              <a:t>(Spikes)</a:t>
            </a:r>
            <a:r>
              <a:rPr lang="zh-TW" altLang="en-US" b="0" i="0" dirty="0">
                <a:effectLst/>
                <a:latin typeface="fkGroteskNeue"/>
              </a:rPr>
              <a:t>。這就是所謂的「凸波」。</a:t>
            </a:r>
            <a:endParaRPr lang="en-US" altLang="zh-TW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TW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effectLst/>
                <a:latin typeface="fkGroteskNeue"/>
              </a:rPr>
              <a:t>Padding</a:t>
            </a:r>
            <a:r>
              <a:rPr lang="zh-TW" altLang="en-US" b="0" i="0" dirty="0">
                <a:effectLst/>
                <a:latin typeface="fkGroteskNeue"/>
              </a:rPr>
              <a:t>：我們人為地在今天後面**「補上一段假數據」**。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TW" b="0" i="1" dirty="0">
                <a:effectLst/>
                <a:latin typeface="fkGroteskNeue"/>
              </a:rPr>
              <a:t>Edge Padding</a:t>
            </a:r>
            <a:r>
              <a:rPr lang="en-US" altLang="zh-TW" b="0" i="0" dirty="0">
                <a:effectLst/>
                <a:latin typeface="fkGroteskNeue"/>
              </a:rPr>
              <a:t>: </a:t>
            </a:r>
            <a:r>
              <a:rPr lang="zh-TW" altLang="en-US" b="0" i="0" dirty="0">
                <a:effectLst/>
                <a:latin typeface="fkGroteskNeue"/>
              </a:rPr>
              <a:t>假設明天、後天都跟今天價格一樣 </a:t>
            </a:r>
            <a:r>
              <a:rPr lang="en-US" altLang="zh-TW" b="0" i="0" dirty="0">
                <a:effectLst/>
                <a:latin typeface="fkGroteskNeue"/>
              </a:rPr>
              <a:t>(</a:t>
            </a:r>
            <a:r>
              <a:rPr lang="zh-TW" altLang="en-US" b="0" i="0" dirty="0">
                <a:effectLst/>
                <a:latin typeface="fkGroteskNeue"/>
              </a:rPr>
              <a:t>平盤延伸</a:t>
            </a:r>
            <a:r>
              <a:rPr lang="en-US" altLang="zh-TW" b="0" i="0" dirty="0">
                <a:effectLst/>
                <a:latin typeface="fkGroteskNeue"/>
              </a:rPr>
              <a:t>)</a:t>
            </a:r>
            <a:r>
              <a:rPr lang="zh-TW" altLang="en-US" b="0" i="0" dirty="0">
                <a:effectLst/>
                <a:latin typeface="fkGroteskNeue"/>
              </a:rPr>
              <a:t>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TW" b="0" i="1" dirty="0">
                <a:effectLst/>
                <a:latin typeface="fkGroteskNeue"/>
              </a:rPr>
              <a:t>Reflect Padding</a:t>
            </a:r>
            <a:r>
              <a:rPr lang="en-US" altLang="zh-TW" b="0" i="0" dirty="0">
                <a:effectLst/>
                <a:latin typeface="fkGroteskNeue"/>
              </a:rPr>
              <a:t>: </a:t>
            </a:r>
            <a:r>
              <a:rPr lang="zh-TW" altLang="en-US" b="0" i="0" dirty="0">
                <a:effectLst/>
                <a:latin typeface="fkGroteskNeue"/>
              </a:rPr>
              <a:t>假設未來的走勢是過去的鏡像 </a:t>
            </a:r>
            <a:r>
              <a:rPr lang="en-US" altLang="zh-TW" b="0" i="0" dirty="0">
                <a:effectLst/>
                <a:latin typeface="fkGroteskNeue"/>
              </a:rPr>
              <a:t>(</a:t>
            </a:r>
            <a:r>
              <a:rPr lang="zh-TW" altLang="en-US" b="0" i="0" dirty="0">
                <a:effectLst/>
                <a:latin typeface="fkGroteskNeue"/>
              </a:rPr>
              <a:t>鏡像延伸</a:t>
            </a:r>
            <a:r>
              <a:rPr lang="en-US" altLang="zh-TW" b="0" i="0" dirty="0">
                <a:effectLst/>
                <a:latin typeface="fkGroteskNeue"/>
              </a:rPr>
              <a:t>)</a:t>
            </a:r>
            <a:r>
              <a:rPr lang="zh-TW" altLang="en-US" b="0" i="0" dirty="0">
                <a:effectLst/>
                <a:latin typeface="fkGroteskNeue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fkGroteskNeue"/>
              </a:rPr>
              <a:t>結果：</a:t>
            </a:r>
            <a:r>
              <a:rPr lang="en-US" altLang="zh-TW" b="0" i="0" dirty="0">
                <a:effectLst/>
                <a:latin typeface="fkGroteskNeue"/>
              </a:rPr>
              <a:t>VMD </a:t>
            </a:r>
            <a:r>
              <a:rPr lang="zh-TW" altLang="en-US" b="0" i="0" dirty="0">
                <a:effectLst/>
                <a:latin typeface="fkGroteskNeue"/>
              </a:rPr>
              <a:t>以為數據還沒結束，它會把那個「發散、亂飄」的誤差算在那些假數據身上。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fkGroteskNeue"/>
              </a:rPr>
              <a:t>收割：我們只取「今天」的分解結果。因為誤差被推到後面去了，「今天」的數值就會變得比較穩定、收斂。</a:t>
            </a:r>
            <a:endParaRPr lang="en-US" altLang="zh-TW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TW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fkGroteskNeue"/>
              </a:rPr>
              <a:t>穩定性 </a:t>
            </a:r>
            <a:r>
              <a:rPr lang="en-US" altLang="zh-TW" b="0" i="0" dirty="0">
                <a:effectLst/>
                <a:latin typeface="fkGroteskNeue"/>
              </a:rPr>
              <a:t>(Stability)</a:t>
            </a:r>
            <a:r>
              <a:rPr lang="zh-TW" altLang="en-US" b="0" i="0" dirty="0">
                <a:effectLst/>
                <a:latin typeface="fkGroteskNeue"/>
              </a:rPr>
              <a:t>：大幅減少尾端數值的隨機跳動。讓今天的 </a:t>
            </a:r>
            <a:r>
              <a:rPr lang="en-US" altLang="zh-TW" b="0" i="0" dirty="0">
                <a:effectLst/>
                <a:latin typeface="fkGroteskNeue"/>
              </a:rPr>
              <a:t>IMF </a:t>
            </a:r>
            <a:r>
              <a:rPr lang="zh-TW" altLang="en-US" b="0" i="0" dirty="0">
                <a:effectLst/>
                <a:latin typeface="fkGroteskNeue"/>
              </a:rPr>
              <a:t>值跟明天的 </a:t>
            </a:r>
            <a:r>
              <a:rPr lang="en-US" altLang="zh-TW" b="0" i="0" dirty="0">
                <a:effectLst/>
                <a:latin typeface="fkGroteskNeue"/>
              </a:rPr>
              <a:t>IMF </a:t>
            </a:r>
            <a:r>
              <a:rPr lang="zh-TW" altLang="en-US" b="0" i="0" dirty="0">
                <a:effectLst/>
                <a:latin typeface="fkGroteskNeue"/>
              </a:rPr>
              <a:t>值更連續。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fkGroteskNeue"/>
              </a:rPr>
              <a:t>減少雜訊 </a:t>
            </a:r>
            <a:r>
              <a:rPr lang="en-US" altLang="zh-TW" b="0" i="0" dirty="0">
                <a:effectLst/>
                <a:latin typeface="fkGroteskNeue"/>
              </a:rPr>
              <a:t>(Noise Reduction)</a:t>
            </a:r>
            <a:r>
              <a:rPr lang="zh-TW" altLang="en-US" b="0" i="0" dirty="0">
                <a:effectLst/>
                <a:latin typeface="fkGroteskNeue"/>
              </a:rPr>
              <a:t>：消除因 </a:t>
            </a:r>
            <a:r>
              <a:rPr lang="en-US" altLang="zh-TW" b="0" i="0" dirty="0">
                <a:effectLst/>
                <a:latin typeface="fkGroteskNeue"/>
              </a:rPr>
              <a:t>FFT </a:t>
            </a:r>
            <a:r>
              <a:rPr lang="zh-TW" altLang="en-US" b="0" i="0" dirty="0">
                <a:effectLst/>
                <a:latin typeface="fkGroteskNeue"/>
              </a:rPr>
              <a:t>吉布斯現象產生的高頻偽影 </a:t>
            </a:r>
            <a:r>
              <a:rPr lang="en-US" altLang="zh-TW" b="0" i="0" dirty="0">
                <a:effectLst/>
                <a:latin typeface="fkGroteskNeue"/>
              </a:rPr>
              <a:t>(Artifacts)</a:t>
            </a:r>
            <a:r>
              <a:rPr lang="zh-TW" altLang="en-US" b="0" i="0" dirty="0">
                <a:effectLst/>
                <a:latin typeface="fkGroteskNeue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effectLst/>
                <a:latin typeface="fkGroteskNeue"/>
              </a:rPr>
              <a:t>提升預測力：給 </a:t>
            </a:r>
            <a:r>
              <a:rPr lang="en-US" altLang="zh-TW" b="0" i="0" dirty="0">
                <a:effectLst/>
                <a:latin typeface="fkGroteskNeue"/>
              </a:rPr>
              <a:t>AI </a:t>
            </a:r>
            <a:r>
              <a:rPr lang="zh-TW" altLang="en-US" b="0" i="0" dirty="0">
                <a:effectLst/>
                <a:latin typeface="fkGroteskNeue"/>
              </a:rPr>
              <a:t>模型的特徵更乾淨，不會被那些假凸波騙去追高殺低。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60115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342</Words>
  <Application>Microsoft Office PowerPoint</Application>
  <PresentationFormat>寬螢幕</PresentationFormat>
  <Paragraphs>30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fkGroteskNeue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廖添富</dc:creator>
  <cp:lastModifiedBy>廖添富</cp:lastModifiedBy>
  <cp:revision>38</cp:revision>
  <dcterms:created xsi:type="dcterms:W3CDTF">2025-12-22T12:36:43Z</dcterms:created>
  <dcterms:modified xsi:type="dcterms:W3CDTF">2026-01-19T16:27:12Z</dcterms:modified>
</cp:coreProperties>
</file>