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8" r:id="rId2"/>
    <p:sldId id="281" r:id="rId3"/>
    <p:sldId id="282" r:id="rId4"/>
    <p:sldId id="285" r:id="rId5"/>
    <p:sldId id="286" r:id="rId6"/>
    <p:sldId id="279" r:id="rId7"/>
    <p:sldId id="280" r:id="rId8"/>
    <p:sldId id="283" r:id="rId9"/>
    <p:sldId id="28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廖添富" initials="廖添富" lastIdx="1" clrIdx="0">
    <p:extLst>
      <p:ext uri="{19B8F6BF-5375-455C-9EA6-DF929625EA0E}">
        <p15:presenceInfo xmlns:p15="http://schemas.microsoft.com/office/powerpoint/2012/main" userId="廖添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580" autoAdjust="0"/>
  </p:normalViewPr>
  <p:slideViewPr>
    <p:cSldViewPr snapToGrid="0">
      <p:cViewPr>
        <p:scale>
          <a:sx n="66" d="100"/>
          <a:sy n="66" d="100"/>
        </p:scale>
        <p:origin x="130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6AEFF-B099-41BB-B2C5-C7627C47E7D5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C5F96-EACD-42D6-93D4-4B4973D58D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20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592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91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941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634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Training and Test </a:t>
            </a:r>
            <a:r>
              <a:rPr lang="zh-TW" altLang="en-US" dirty="0"/>
              <a:t>分別 做 </a:t>
            </a:r>
            <a:r>
              <a:rPr lang="en-US" altLang="zh-TW" dirty="0"/>
              <a:t>Scaler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033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369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9254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513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93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BDB06-BAD1-448A-8768-A68E8A026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350AC-5185-4E48-BBF7-7CA1B7DF5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ACF076-F1BE-457D-894B-C42F9682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658CA-331A-4E3B-9BFD-3FF7C183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19ECD6-4A4E-4CB0-81CB-A685D5A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F4FCD-3543-4C78-804D-F2139ADD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0643A4-9BEB-4070-8BEC-470DF0056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376E40-FFB8-42C3-807B-6B37655C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1BD1D-9B88-45CF-909D-883A154C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93D20A-C4CC-42BA-BA8F-D5B75838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53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B9FD4-1640-4291-8C21-9FBA7706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FF97BF-C0A8-4040-A563-EA533462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04422-332B-467F-ACFF-332E27EF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5BF8D-9103-461D-9860-7EC6368D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21419-6728-446E-A804-170F228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46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4C33-ADEE-4C7D-8AA3-364A6717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E52A1E-61AC-4651-B07B-A2BC2485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77D334-3B43-42A2-8514-9B427352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31C6C3-C53F-424C-B7CD-9EEE23AF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7D3F2B-5033-45F7-A1CA-7B6B6ED1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D1DB0-31B1-4D46-B4BB-33BCD69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80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A5F38-3B83-456A-A246-0212E61E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5FE547-B20E-4EF0-A78D-47148FD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3EE9F4-B29B-40BB-A202-A38C479E2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47A837-45CD-40EB-AF75-549622044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4A9F08-729D-45DA-BC14-F23F84443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4574A0B-E4E4-40FB-AFF4-2497817B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859C4F-E154-48A9-B00E-0B85A946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20CF31F-A401-4F5B-B3EE-E12AAFF8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6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3BF39-ECE9-4259-95A6-447CE124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0956C4-7332-429C-9C4A-5833AA02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358D28-3D55-4FD4-95F2-69F3423B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A841EF-17A6-49EB-B550-3258A26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26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8E09A4-14F8-4554-A7AF-677CA7A9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66D64D-29AD-46AE-9C71-D53AEF14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38447F-CEB5-41BB-ADD7-77C8D0CD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80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3A3E1-8E37-4136-8D2C-2C773BC9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ADFCBC-DCAE-4BB9-A4E6-92D2CF56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491ED6-C73C-403B-B27A-0C73D5837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26433B-7B5E-4DA3-9352-9BA58D46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BA4174-943C-4458-89FD-1B7D2D9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05A6D2-779D-4D36-8B3E-A52035CB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31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1A9A9-6A3C-41C4-9800-15AE545D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076499-12F7-475E-99F5-A2A9B81BF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6B6672-CA5F-48FE-81BA-9976EECA4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4CC001-AB97-4C5D-819D-EDCE98C4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DADDF7-DE8E-4EDB-BD5E-ED675320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4A05F5-1061-465D-B93E-143EE726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88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4C9E4-FCB6-4428-BF83-9A4A55C3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E71D40-236C-4288-A677-56CDEDC1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ADF9E0-F866-4859-9504-23768DE1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3064DB-22B2-4F2C-B1A8-A1B7C7BE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695771-F3F4-423A-9E53-42EAB69C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9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4EEAAF-B6F2-4897-91F8-CA9AA07E6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5EB2C6-A5FF-4A60-919D-9F4984876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D53F9C-AB2E-4609-9C3B-20FC3B96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E96EB7-A67F-40B1-94EE-B9522C52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C76E70-AA25-4D1D-B94D-6E924D22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87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2B2DEA-7226-4FDE-9592-41724B65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EB72C6-317A-43C4-821C-ECCBD320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76D16-08FD-496F-810A-0DEA5294A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64084-543B-42CA-A209-CD39C253E9C1}" type="datetimeFigureOut">
              <a:rPr lang="zh-TW" altLang="en-US" smtClean="0"/>
              <a:t>2026/1/27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4BC770-154F-4AFA-AB31-31796BB7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E17C4F-2F43-4911-88B6-AEDDAF8E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2ED539-36B4-4209-89D1-AEDB6CC782D6}"/>
              </a:ext>
            </a:extLst>
          </p:cNvPr>
          <p:cNvSpPr txBox="1"/>
          <p:nvPr/>
        </p:nvSpPr>
        <p:spPr>
          <a:xfrm>
            <a:off x="5619599" y="3059668"/>
            <a:ext cx="167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N-BEATS </a:t>
            </a:r>
            <a:r>
              <a:rPr lang="zh-TW" altLang="en-US" dirty="0"/>
              <a:t> </a:t>
            </a:r>
            <a:r>
              <a:rPr lang="en-US" altLang="zh-TW" dirty="0"/>
              <a:t>model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554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4919942-5187-4FC7-A483-CE51D7151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54" y="1990844"/>
            <a:ext cx="10859798" cy="25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5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1B1EC8E-DCA1-48CA-8533-DE71A82F7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93" y="1996694"/>
            <a:ext cx="11470511" cy="286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9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3FB1473-437D-4D85-908F-6D161588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69" y="1905157"/>
            <a:ext cx="11412638" cy="284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6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E915E07-42EB-4632-894F-D22E55CAF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9" y="729204"/>
            <a:ext cx="10247345" cy="506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4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66025D90-A407-41FC-A9D2-11923F97CF69}"/>
              </a:ext>
            </a:extLst>
          </p:cNvPr>
          <p:cNvSpPr txBox="1"/>
          <p:nvPr/>
        </p:nvSpPr>
        <p:spPr>
          <a:xfrm>
            <a:off x="472440" y="280213"/>
            <a:ext cx="114757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model = </a:t>
            </a:r>
            <a:r>
              <a:rPr lang="en-US" altLang="zh-TW" dirty="0" err="1"/>
              <a:t>NBEATSModel</a:t>
            </a:r>
            <a:r>
              <a:rPr lang="en-US" altLang="zh-TW" dirty="0"/>
              <a:t>(</a:t>
            </a:r>
          </a:p>
          <a:p>
            <a:r>
              <a:rPr lang="en-US" altLang="zh-TW" dirty="0"/>
              <a:t>    # --- 1. </a:t>
            </a:r>
            <a:r>
              <a:rPr lang="zh-TW" altLang="en-US" dirty="0"/>
              <a:t>時間視窗設定 </a:t>
            </a:r>
            <a:r>
              <a:rPr lang="en-US" altLang="zh-TW" dirty="0"/>
              <a:t>(</a:t>
            </a:r>
            <a:r>
              <a:rPr lang="zh-TW" altLang="en-US" dirty="0"/>
              <a:t>最重要</a:t>
            </a:r>
            <a:r>
              <a:rPr lang="en-US" altLang="zh-TW" dirty="0"/>
              <a:t>) ---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input_chunk_length</a:t>
            </a:r>
            <a:r>
              <a:rPr lang="en-US" altLang="zh-TW" dirty="0"/>
              <a:t>=90,   # [</a:t>
            </a:r>
            <a:r>
              <a:rPr lang="zh-TW" altLang="en-US" dirty="0"/>
              <a:t>回看窗口</a:t>
            </a:r>
            <a:r>
              <a:rPr lang="en-US" altLang="zh-TW" dirty="0"/>
              <a:t>] </a:t>
            </a:r>
            <a:r>
              <a:rPr lang="zh-TW" altLang="en-US" dirty="0"/>
              <a:t>模型每次訓練時，會輸入過去「</a:t>
            </a:r>
            <a:r>
              <a:rPr lang="en-US" altLang="zh-TW" dirty="0"/>
              <a:t>90 </a:t>
            </a:r>
            <a:r>
              <a:rPr lang="zh-TW" altLang="en-US" dirty="0"/>
              <a:t>天」的數據。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意義：讓模型能觀察到約一季度的趨勢變化。若設太短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10)</a:t>
            </a:r>
            <a:r>
              <a:rPr lang="zh-TW" altLang="en-US" dirty="0"/>
              <a:t>會看不出長期趨勢；設太長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365)</a:t>
            </a:r>
            <a:r>
              <a:rPr lang="zh-TW" altLang="en-US" dirty="0"/>
              <a:t>會包含太多舊雜訊。</a:t>
            </a:r>
          </a:p>
          <a:p>
            <a:r>
              <a:rPr lang="zh-TW" altLang="en-US" dirty="0"/>
              <a:t>    </a:t>
            </a:r>
          </a:p>
          <a:p>
            <a:r>
              <a:rPr lang="zh-TW" altLang="en-US" dirty="0"/>
              <a:t>    </a:t>
            </a:r>
            <a:r>
              <a:rPr lang="en-US" altLang="zh-TW" dirty="0" err="1"/>
              <a:t>output_chunk_length</a:t>
            </a:r>
            <a:r>
              <a:rPr lang="en-US" altLang="zh-TW" dirty="0"/>
              <a:t>=1,   # [</a:t>
            </a:r>
            <a:r>
              <a:rPr lang="zh-TW" altLang="en-US" dirty="0"/>
              <a:t>預測視野</a:t>
            </a:r>
            <a:r>
              <a:rPr lang="en-US" altLang="zh-TW" dirty="0"/>
              <a:t>] </a:t>
            </a:r>
            <a:r>
              <a:rPr lang="zh-TW" altLang="en-US" dirty="0"/>
              <a:t>模型輸出層一次吐出「未來 </a:t>
            </a:r>
            <a:r>
              <a:rPr lang="en-US" altLang="zh-TW" dirty="0"/>
              <a:t>1 </a:t>
            </a:r>
            <a:r>
              <a:rPr lang="zh-TW" altLang="en-US" dirty="0"/>
              <a:t>天」的預測值。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意義：雖然我們可以讓它一次吐出</a:t>
            </a:r>
            <a:r>
              <a:rPr lang="en-US" altLang="zh-TW" dirty="0"/>
              <a:t>5</a:t>
            </a:r>
            <a:r>
              <a:rPr lang="zh-TW" altLang="en-US" dirty="0"/>
              <a:t>天，但在股票預測中，只預測「明天」通常最準確。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我們用「滾動預測 </a:t>
            </a:r>
            <a:r>
              <a:rPr lang="en-US" altLang="zh-TW" dirty="0"/>
              <a:t>(Rolling Forecast)</a:t>
            </a:r>
            <a:r>
              <a:rPr lang="zh-TW" altLang="en-US" dirty="0"/>
              <a:t>」的方式：預測完明天，把明天當成已知，再預測後天。</a:t>
            </a:r>
          </a:p>
          <a:p>
            <a:endParaRPr lang="zh-TW" altLang="en-US" dirty="0"/>
          </a:p>
          <a:p>
            <a:r>
              <a:rPr lang="zh-TW" altLang="en-US" dirty="0"/>
              <a:t>    </a:t>
            </a:r>
            <a:r>
              <a:rPr lang="en-US" altLang="zh-TW" dirty="0"/>
              <a:t># --- 2. </a:t>
            </a:r>
            <a:r>
              <a:rPr lang="zh-TW" altLang="en-US" dirty="0"/>
              <a:t>模型架構深度 </a:t>
            </a:r>
            <a:r>
              <a:rPr lang="en-US" altLang="zh-TW" dirty="0"/>
              <a:t>(</a:t>
            </a:r>
            <a:r>
              <a:rPr lang="zh-TW" altLang="en-US" dirty="0"/>
              <a:t>決定模型聰不聰明</a:t>
            </a:r>
            <a:r>
              <a:rPr lang="en-US" altLang="zh-TW" dirty="0"/>
              <a:t>) ---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num_stacks</a:t>
            </a:r>
            <a:r>
              <a:rPr lang="en-US" altLang="zh-TW" dirty="0"/>
              <a:t>=3,            # [</a:t>
            </a:r>
            <a:r>
              <a:rPr lang="zh-TW" altLang="en-US" dirty="0"/>
              <a:t>堆疊數</a:t>
            </a:r>
            <a:r>
              <a:rPr lang="en-US" altLang="zh-TW" dirty="0"/>
              <a:t>] N-BEATS </a:t>
            </a:r>
            <a:r>
              <a:rPr lang="zh-TW" altLang="en-US" dirty="0"/>
              <a:t>的特有架構。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意義：將問題分解成 </a:t>
            </a:r>
            <a:r>
              <a:rPr lang="en-US" altLang="zh-TW" dirty="0"/>
              <a:t>3 </a:t>
            </a:r>
            <a:r>
              <a:rPr lang="zh-TW" altLang="en-US" dirty="0"/>
              <a:t>個層次來解。通常第</a:t>
            </a:r>
            <a:r>
              <a:rPr lang="en-US" altLang="zh-TW" dirty="0"/>
              <a:t>1</a:t>
            </a:r>
            <a:r>
              <a:rPr lang="zh-TW" altLang="en-US" dirty="0"/>
              <a:t>層抓趨勢</a:t>
            </a:r>
            <a:r>
              <a:rPr lang="en-US" altLang="zh-TW" dirty="0"/>
              <a:t>(Trend)</a:t>
            </a:r>
            <a:r>
              <a:rPr lang="zh-TW" altLang="en-US" dirty="0"/>
              <a:t>，第</a:t>
            </a:r>
            <a:r>
              <a:rPr lang="en-US" altLang="zh-TW" dirty="0"/>
              <a:t>2</a:t>
            </a:r>
            <a:r>
              <a:rPr lang="zh-TW" altLang="en-US" dirty="0"/>
              <a:t>層抓週期</a:t>
            </a:r>
            <a:r>
              <a:rPr lang="en-US" altLang="zh-TW" dirty="0"/>
              <a:t>(Seasonality)</a:t>
            </a:r>
            <a:r>
              <a:rPr lang="zh-TW" altLang="en-US" dirty="0"/>
              <a:t>，第</a:t>
            </a:r>
            <a:r>
              <a:rPr lang="en-US" altLang="zh-TW" dirty="0"/>
              <a:t>3</a:t>
            </a:r>
            <a:r>
              <a:rPr lang="zh-TW" altLang="en-US" dirty="0"/>
              <a:t>層抓剩餘細節</a:t>
            </a:r>
            <a:r>
              <a:rPr lang="en-US" altLang="zh-TW" dirty="0"/>
              <a:t>(Generic)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    </a:t>
            </a:r>
          </a:p>
          <a:p>
            <a:r>
              <a:rPr lang="zh-TW" altLang="en-US" dirty="0"/>
              <a:t>    </a:t>
            </a:r>
            <a:r>
              <a:rPr lang="en-US" altLang="zh-TW" dirty="0" err="1"/>
              <a:t>num_blocks</a:t>
            </a:r>
            <a:r>
              <a:rPr lang="en-US" altLang="zh-TW" dirty="0"/>
              <a:t>=2,            # [</a:t>
            </a:r>
            <a:r>
              <a:rPr lang="zh-TW" altLang="en-US" dirty="0"/>
              <a:t>區塊數</a:t>
            </a:r>
            <a:r>
              <a:rPr lang="en-US" altLang="zh-TW" dirty="0"/>
              <a:t>] </a:t>
            </a:r>
            <a:r>
              <a:rPr lang="zh-TW" altLang="en-US" dirty="0"/>
              <a:t>每個堆疊裡面有 </a:t>
            </a:r>
            <a:r>
              <a:rPr lang="en-US" altLang="zh-TW" dirty="0"/>
              <a:t>2 </a:t>
            </a:r>
            <a:r>
              <a:rPr lang="zh-TW" altLang="en-US" dirty="0"/>
              <a:t>個殘差區塊 </a:t>
            </a:r>
            <a:r>
              <a:rPr lang="en-US" altLang="zh-TW" dirty="0"/>
              <a:t>(Residual Blocks)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意義：增加區塊可以讓模型學到更複雜的非線性關係，但太多容易過擬合</a:t>
            </a:r>
            <a:r>
              <a:rPr lang="en-US" altLang="zh-TW" dirty="0"/>
              <a:t>(Overfitting)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653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41DFE77-2D74-4AD4-B1FF-75F3A9B680BF}"/>
              </a:ext>
            </a:extLst>
          </p:cNvPr>
          <p:cNvSpPr txBox="1"/>
          <p:nvPr/>
        </p:nvSpPr>
        <p:spPr>
          <a:xfrm>
            <a:off x="563880" y="645170"/>
            <a:ext cx="110032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num_layers</a:t>
            </a:r>
            <a:r>
              <a:rPr lang="en-US" altLang="zh-TW" dirty="0"/>
              <a:t>=4,            # [</a:t>
            </a:r>
            <a:r>
              <a:rPr lang="zh-TW" altLang="en-US" dirty="0"/>
              <a:t>層數</a:t>
            </a:r>
            <a:r>
              <a:rPr lang="en-US" altLang="zh-TW" dirty="0"/>
              <a:t>] </a:t>
            </a:r>
            <a:r>
              <a:rPr lang="zh-TW" altLang="en-US" dirty="0"/>
              <a:t>每個區塊裡面有 </a:t>
            </a:r>
            <a:r>
              <a:rPr lang="en-US" altLang="zh-TW" dirty="0"/>
              <a:t>4 </a:t>
            </a:r>
            <a:r>
              <a:rPr lang="zh-TW" altLang="en-US" dirty="0"/>
              <a:t>層全連接層 </a:t>
            </a:r>
            <a:r>
              <a:rPr lang="en-US" altLang="zh-TW" dirty="0"/>
              <a:t>(Fully Connected Layers)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意義：這是神經網路的深度。</a:t>
            </a:r>
            <a:r>
              <a:rPr lang="en-US" altLang="zh-TW" dirty="0"/>
              <a:t>4 </a:t>
            </a:r>
            <a:r>
              <a:rPr lang="zh-TW" altLang="en-US" dirty="0"/>
              <a:t>層是標準設定，太深會導致梯度消失難以訓練。</a:t>
            </a:r>
          </a:p>
          <a:p>
            <a:r>
              <a:rPr lang="zh-TW" altLang="en-US" dirty="0"/>
              <a:t>    </a:t>
            </a:r>
          </a:p>
          <a:p>
            <a:r>
              <a:rPr lang="zh-TW" altLang="en-US" dirty="0"/>
              <a:t>    </a:t>
            </a:r>
            <a:r>
              <a:rPr lang="en-US" altLang="zh-TW" dirty="0" err="1"/>
              <a:t>layer_widths</a:t>
            </a:r>
            <a:r>
              <a:rPr lang="en-US" altLang="zh-TW" dirty="0"/>
              <a:t>=256,        # [</a:t>
            </a:r>
            <a:r>
              <a:rPr lang="zh-TW" altLang="en-US" dirty="0"/>
              <a:t>寬度</a:t>
            </a:r>
            <a:r>
              <a:rPr lang="en-US" altLang="zh-TW" dirty="0"/>
              <a:t>] </a:t>
            </a:r>
            <a:r>
              <a:rPr lang="zh-TW" altLang="en-US" dirty="0"/>
              <a:t>每一層神經網路有 </a:t>
            </a:r>
            <a:r>
              <a:rPr lang="en-US" altLang="zh-TW" dirty="0"/>
              <a:t>256 </a:t>
            </a:r>
            <a:r>
              <a:rPr lang="zh-TW" altLang="en-US" dirty="0"/>
              <a:t>個神經元 </a:t>
            </a:r>
            <a:r>
              <a:rPr lang="en-US" altLang="zh-TW" dirty="0"/>
              <a:t>(Neurons)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意義：模型的「記憶容量」。</a:t>
            </a:r>
            <a:r>
              <a:rPr lang="en-US" altLang="zh-TW" dirty="0"/>
              <a:t>NASDAQ </a:t>
            </a:r>
            <a:r>
              <a:rPr lang="zh-TW" altLang="en-US" dirty="0"/>
              <a:t>數據複雜，用 </a:t>
            </a:r>
            <a:r>
              <a:rPr lang="en-US" altLang="zh-TW" dirty="0"/>
              <a:t>256 </a:t>
            </a:r>
            <a:r>
              <a:rPr lang="zh-TW" altLang="en-US" dirty="0"/>
              <a:t>或 </a:t>
            </a:r>
            <a:r>
              <a:rPr lang="en-US" altLang="zh-TW" dirty="0"/>
              <a:t>512 </a:t>
            </a:r>
            <a:r>
              <a:rPr lang="zh-TW" altLang="en-US" dirty="0"/>
              <a:t>都可以，太大運算會變慢。</a:t>
            </a:r>
          </a:p>
          <a:p>
            <a:endParaRPr lang="zh-TW" altLang="en-US" dirty="0"/>
          </a:p>
          <a:p>
            <a:r>
              <a:rPr lang="zh-TW" altLang="en-US" dirty="0"/>
              <a:t>    </a:t>
            </a:r>
            <a:r>
              <a:rPr lang="en-US" altLang="zh-TW" dirty="0"/>
              <a:t># --- 3. </a:t>
            </a:r>
            <a:r>
              <a:rPr lang="zh-TW" altLang="en-US" dirty="0"/>
              <a:t>訓練過程控制 </a:t>
            </a:r>
            <a:r>
              <a:rPr lang="en-US" altLang="zh-TW" dirty="0"/>
              <a:t>---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n_epochs</a:t>
            </a:r>
            <a:r>
              <a:rPr lang="en-US" altLang="zh-TW" dirty="0"/>
              <a:t>=50,             # [</a:t>
            </a:r>
            <a:r>
              <a:rPr lang="zh-TW" altLang="en-US" dirty="0"/>
              <a:t>訓練輪數</a:t>
            </a:r>
            <a:r>
              <a:rPr lang="en-US" altLang="zh-TW" dirty="0"/>
              <a:t>] </a:t>
            </a:r>
            <a:r>
              <a:rPr lang="zh-TW" altLang="en-US" dirty="0"/>
              <a:t>總共把所有資料看過 </a:t>
            </a:r>
            <a:r>
              <a:rPr lang="en-US" altLang="zh-TW" dirty="0"/>
              <a:t>50 </a:t>
            </a:r>
            <a:r>
              <a:rPr lang="zh-TW" altLang="en-US" dirty="0"/>
              <a:t>次。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意義：次數越多學得越久，但超過某個點後效果不會變好，反而會背答案</a:t>
            </a:r>
            <a:r>
              <a:rPr lang="en-US" altLang="zh-TW" dirty="0"/>
              <a:t>(</a:t>
            </a:r>
            <a:r>
              <a:rPr lang="zh-TW" altLang="en-US" dirty="0"/>
              <a:t>過擬合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    </a:t>
            </a:r>
          </a:p>
          <a:p>
            <a:r>
              <a:rPr lang="zh-TW" altLang="en-US" dirty="0"/>
              <a:t>    </a:t>
            </a:r>
            <a:r>
              <a:rPr lang="en-US" altLang="zh-TW" dirty="0" err="1"/>
              <a:t>nr_epochs_val_period</a:t>
            </a:r>
            <a:r>
              <a:rPr lang="en-US" altLang="zh-TW" dirty="0"/>
              <a:t>=1,  # [</a:t>
            </a:r>
            <a:r>
              <a:rPr lang="zh-TW" altLang="en-US" dirty="0"/>
              <a:t>驗證頻率</a:t>
            </a:r>
            <a:r>
              <a:rPr lang="en-US" altLang="zh-TW" dirty="0"/>
              <a:t>] </a:t>
            </a:r>
            <a:r>
              <a:rPr lang="zh-TW" altLang="en-US" dirty="0"/>
              <a:t>每訓練 </a:t>
            </a:r>
            <a:r>
              <a:rPr lang="en-US" altLang="zh-TW" dirty="0"/>
              <a:t>1 </a:t>
            </a:r>
            <a:r>
              <a:rPr lang="zh-TW" altLang="en-US" dirty="0"/>
              <a:t>輪 </a:t>
            </a:r>
            <a:r>
              <a:rPr lang="en-US" altLang="zh-TW" dirty="0"/>
              <a:t>(Epoch) </a:t>
            </a:r>
            <a:r>
              <a:rPr lang="zh-TW" altLang="en-US" dirty="0"/>
              <a:t>就檢查一次驗證集誤差。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意義：讓我們能即時看到模型有沒有變聰明，還是變笨了。</a:t>
            </a:r>
          </a:p>
          <a:p>
            <a:r>
              <a:rPr lang="zh-TW" altLang="en-US" dirty="0"/>
              <a:t>    </a:t>
            </a:r>
          </a:p>
          <a:p>
            <a:r>
              <a:rPr lang="zh-TW" altLang="en-US" dirty="0"/>
              <a:t>    </a:t>
            </a:r>
            <a:r>
              <a:rPr lang="en-US" altLang="zh-TW" dirty="0" err="1"/>
              <a:t>batch_size</a:t>
            </a:r>
            <a:r>
              <a:rPr lang="en-US" altLang="zh-TW" dirty="0"/>
              <a:t>=64,           # [</a:t>
            </a:r>
            <a:r>
              <a:rPr lang="zh-TW" altLang="en-US" dirty="0"/>
              <a:t>批次大小</a:t>
            </a:r>
            <a:r>
              <a:rPr lang="en-US" altLang="zh-TW" dirty="0"/>
              <a:t>] </a:t>
            </a:r>
            <a:r>
              <a:rPr lang="zh-TW" altLang="en-US" dirty="0"/>
              <a:t>每次更新參數時，參考 </a:t>
            </a:r>
            <a:r>
              <a:rPr lang="en-US" altLang="zh-TW" dirty="0"/>
              <a:t>64 </a:t>
            </a:r>
            <a:r>
              <a:rPr lang="zh-TW" altLang="en-US" dirty="0"/>
              <a:t>筆歷史資料片段。</a:t>
            </a:r>
          </a:p>
          <a:p>
            <a:r>
              <a:rPr lang="zh-TW" altLang="en-US" dirty="0"/>
              <a:t>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</a:t>
            </a:r>
            <a:r>
              <a:rPr lang="en-US" altLang="zh-TW" dirty="0"/>
              <a:t>64 </a:t>
            </a:r>
            <a:r>
              <a:rPr lang="zh-TW" altLang="en-US" dirty="0"/>
              <a:t>是折衷值。太小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1)</a:t>
            </a:r>
            <a:r>
              <a:rPr lang="zh-TW" altLang="en-US" dirty="0"/>
              <a:t>訓練不穩；太大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1024)</a:t>
            </a:r>
            <a:r>
              <a:rPr lang="zh-TW" altLang="en-US" dirty="0"/>
              <a:t>容易陷入局部最佳解。</a:t>
            </a:r>
          </a:p>
          <a:p>
            <a:endParaRPr lang="zh-TW" altLang="en-US" dirty="0"/>
          </a:p>
          <a:p>
            <a:r>
              <a:rPr lang="zh-TW" altLang="en-US" dirty="0"/>
              <a:t>    </a:t>
            </a:r>
            <a:r>
              <a:rPr lang="en-US" altLang="zh-TW" dirty="0" err="1"/>
              <a:t>optimizer_kwargs</a:t>
            </a:r>
            <a:r>
              <a:rPr lang="en-US" altLang="zh-TW" dirty="0"/>
              <a:t>={'</a:t>
            </a:r>
            <a:r>
              <a:rPr lang="en-US" altLang="zh-TW" dirty="0" err="1"/>
              <a:t>lr</a:t>
            </a:r>
            <a:r>
              <a:rPr lang="en-US" altLang="zh-TW" dirty="0"/>
              <a:t>': 0.001}, # [</a:t>
            </a:r>
            <a:r>
              <a:rPr lang="zh-TW" altLang="en-US" dirty="0"/>
              <a:t>學習率</a:t>
            </a:r>
            <a:r>
              <a:rPr lang="en-US" altLang="zh-TW" dirty="0"/>
              <a:t>] </a:t>
            </a:r>
            <a:r>
              <a:rPr lang="zh-TW" altLang="en-US" dirty="0"/>
              <a:t>優化器</a:t>
            </a:r>
            <a:r>
              <a:rPr lang="en-US" altLang="zh-TW" dirty="0"/>
              <a:t>(Adam) </a:t>
            </a:r>
            <a:r>
              <a:rPr lang="zh-TW" altLang="en-US" dirty="0"/>
              <a:t>的步伐大小。</a:t>
            </a:r>
          </a:p>
          <a:p>
            <a:r>
              <a:rPr lang="zh-TW" altLang="en-US" dirty="0"/>
              <a:t>                                    </a:t>
            </a:r>
            <a:r>
              <a:rPr lang="en-US" altLang="zh-TW" dirty="0"/>
              <a:t># </a:t>
            </a:r>
            <a:r>
              <a:rPr lang="zh-TW" altLang="en-US" dirty="0"/>
              <a:t>意義：</a:t>
            </a:r>
            <a:r>
              <a:rPr lang="en-US" altLang="zh-TW" dirty="0"/>
              <a:t>0.001 </a:t>
            </a:r>
            <a:r>
              <a:rPr lang="zh-TW" altLang="en-US" dirty="0"/>
              <a:t>是黃金標準。太大模型會亂跳無法收斂；太小會訓練太慢。</a:t>
            </a:r>
          </a:p>
        </p:txBody>
      </p:sp>
    </p:spTree>
    <p:extLst>
      <p:ext uri="{BB962C8B-B14F-4D97-AF65-F5344CB8AC3E}">
        <p14:creationId xmlns:p14="http://schemas.microsoft.com/office/powerpoint/2010/main" val="252887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67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6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654</Words>
  <Application>Microsoft Office PowerPoint</Application>
  <PresentationFormat>寬螢幕</PresentationFormat>
  <Paragraphs>44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廖添富</dc:creator>
  <cp:lastModifiedBy>廖添富</cp:lastModifiedBy>
  <cp:revision>41</cp:revision>
  <dcterms:created xsi:type="dcterms:W3CDTF">2025-12-22T12:36:43Z</dcterms:created>
  <dcterms:modified xsi:type="dcterms:W3CDTF">2026-01-26T16:26:54Z</dcterms:modified>
</cp:coreProperties>
</file>