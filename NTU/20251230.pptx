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7" r:id="rId2"/>
    <p:sldId id="268" r:id="rId3"/>
    <p:sldId id="273" r:id="rId4"/>
    <p:sldId id="274" r:id="rId5"/>
    <p:sldId id="269" r:id="rId6"/>
    <p:sldId id="270" r:id="rId7"/>
    <p:sldId id="271" r:id="rId8"/>
    <p:sldId id="272" r:id="rId9"/>
    <p:sldId id="275" r:id="rId10"/>
    <p:sldId id="276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580" autoAdjust="0"/>
  </p:normalViewPr>
  <p:slideViewPr>
    <p:cSldViewPr snapToGrid="0">
      <p:cViewPr varScale="1">
        <p:scale>
          <a:sx n="68" d="100"/>
          <a:sy n="68" d="100"/>
        </p:scale>
        <p:origin x="12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6AEFF-B099-41BB-B2C5-C7627C47E7D5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C5F96-EACD-42D6-93D4-4B4973D58D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7204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5228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4374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362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MAPE: 1.95%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4168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2857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MAPE: 1.84%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748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4401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MAPE: 2.92%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110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418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C5F96-EACD-42D6-93D4-4B4973D58D6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7876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BDB06-BAD1-448A-8768-A68E8A026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C350AC-5185-4E48-BBF7-7CA1B7DF5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ACF076-F1BE-457D-894B-C42F9682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C658CA-331A-4E3B-9BFD-3FF7C1833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19ECD6-4A4E-4CB0-81CB-A685D5A0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44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FF4FCD-3543-4C78-804D-F2139ADD2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0643A4-9BEB-4070-8BEC-470DF0056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376E40-FFB8-42C3-807B-6B37655CF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01BD1D-9B88-45CF-909D-883A154C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93D20A-C4CC-42BA-BA8F-D5B75838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1532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AB9FD4-1640-4291-8C21-9FBA7706C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1FF97BF-C0A8-4040-A563-EA5334622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B04422-332B-467F-ACFF-332E27EF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D5BF8D-9103-461D-9860-7EC6368DD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C21419-6728-446E-A804-170F228C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9469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7F4C33-ADEE-4C7D-8AA3-364A67171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E52A1E-61AC-4651-B07B-A2BC2485A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377D334-3B43-42A2-8514-9B4273521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31C6C3-C53F-424C-B7CD-9EEE23AF8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67D3F2B-5033-45F7-A1CA-7B6B6ED12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3D1DB0-31B1-4D46-B4BB-33BCD6982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1809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FA5F38-3B83-456A-A246-0212E61E4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5FE547-B20E-4EF0-A78D-47148FD8C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C3EE9F4-B29B-40BB-A202-A38C479E2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B47A837-45CD-40EB-AF75-549622044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E4A9F08-729D-45DA-BC14-F23F84443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4574A0B-E4E4-40FB-AFF4-2497817B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0859C4F-E154-48A9-B00E-0B85A946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20CF31F-A401-4F5B-B3EE-E12AAFF8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761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C3BF39-ECE9-4259-95A6-447CE124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80956C4-7332-429C-9C4A-5833AA024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B358D28-3D55-4FD4-95F2-69F3423B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A841EF-17A6-49EB-B550-3258A268A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0263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E8E09A4-14F8-4554-A7AF-677CA7A9D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366D64D-29AD-46AE-9C71-D53AEF14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38447F-CEB5-41BB-ADD7-77C8D0CD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780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C3A3E1-8E37-4136-8D2C-2C773BC93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ADFCBC-DCAE-4BB9-A4E6-92D2CF564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6491ED6-C73C-403B-B27A-0C73D5837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826433B-7B5E-4DA3-9352-9BA58D467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EBA4174-943C-4458-89FD-1B7D2D914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305A6D2-779D-4D36-8B3E-A52035CB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7311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1A9A9-6A3C-41C4-9800-15AE545D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0076499-12F7-475E-99F5-A2A9B81BFA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6B6672-CA5F-48FE-81BA-9976EECA4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4CC001-AB97-4C5D-819D-EDCE98C43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DDADDF7-DE8E-4EDB-BD5E-ED675320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4A05F5-1061-465D-B93E-143EE726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1883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E4C9E4-FCB6-4428-BF83-9A4A55C35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8E71D40-236C-4288-A677-56CDEDC10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ADF9E0-F866-4859-9504-23768DE1D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3064DB-22B2-4F2C-B1A8-A1B7C7BED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695771-F3F4-423A-9E53-42EAB69CE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294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E4EEAAF-B6F2-4897-91F8-CA9AA07E6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5EB2C6-A5FF-4A60-919D-9F4984876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D53F9C-AB2E-4609-9C3B-20FC3B960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4084-543B-42CA-A209-CD39C253E9C1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E96EB7-A67F-40B1-94EE-B9522C52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C76E70-AA25-4D1D-B94D-6E924D22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6872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02B2DEA-7226-4FDE-9592-41724B658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BEB72C6-317A-43C4-821C-ECCBD3206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A76D16-08FD-496F-810A-0DEA5294A2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64084-543B-42CA-A209-CD39C253E9C1}" type="datetimeFigureOut">
              <a:rPr lang="zh-TW" altLang="en-US" smtClean="0"/>
              <a:t>2025/12/30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4BC770-154F-4AFA-AB31-31796BB7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E17C4F-2F43-4911-88B6-AEDDAF8E6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C23F4-0A2B-487E-A7BF-99F624AEEB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38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4AE0EE2-5FA0-4AE1-B3D9-62B092DA2E52}"/>
              </a:ext>
            </a:extLst>
          </p:cNvPr>
          <p:cNvSpPr txBox="1"/>
          <p:nvPr/>
        </p:nvSpPr>
        <p:spPr>
          <a:xfrm>
            <a:off x="1851377" y="1478844"/>
            <a:ext cx="707713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0" i="0" dirty="0">
                <a:effectLst/>
                <a:latin typeface="fkGroteskNeue"/>
              </a:rPr>
              <a:t>EMD</a:t>
            </a:r>
            <a:r>
              <a:rPr lang="zh-TW" altLang="en-US" b="0" i="0" dirty="0">
                <a:effectLst/>
                <a:latin typeface="fkGroteskNeue"/>
              </a:rPr>
              <a:t>利用 </a:t>
            </a:r>
            <a:r>
              <a:rPr lang="en-US" altLang="zh-TW" b="0" i="0" dirty="0">
                <a:effectLst/>
                <a:latin typeface="fkGroteskNeue"/>
              </a:rPr>
              <a:t>Cubic Spline (</a:t>
            </a:r>
            <a:r>
              <a:rPr lang="zh-TW" altLang="en-US" b="0" i="0" dirty="0">
                <a:effectLst/>
                <a:latin typeface="fkGroteskNeue"/>
              </a:rPr>
              <a:t>三次樣條插值</a:t>
            </a:r>
            <a:r>
              <a:rPr lang="en-US" altLang="zh-TW" b="0" i="0" dirty="0">
                <a:effectLst/>
                <a:latin typeface="fkGroteskNeue"/>
              </a:rPr>
              <a:t>) </a:t>
            </a:r>
            <a:r>
              <a:rPr lang="zh-TW" altLang="en-US" b="0" i="0" dirty="0">
                <a:effectLst/>
                <a:latin typeface="fkGroteskNeue"/>
              </a:rPr>
              <a:t>來擬合包絡線。</a:t>
            </a:r>
            <a:endParaRPr lang="en-US" altLang="zh-TW" b="0" i="0" dirty="0">
              <a:effectLst/>
              <a:latin typeface="fkGroteskNeue"/>
            </a:endParaRPr>
          </a:p>
          <a:p>
            <a:r>
              <a:rPr lang="en-US" altLang="zh-TW" b="0" i="0" dirty="0">
                <a:effectLst/>
                <a:latin typeface="fkGroteskNeue"/>
              </a:rPr>
              <a:t>Varying Number of IMFs  for training and test data.</a:t>
            </a:r>
          </a:p>
          <a:p>
            <a:endParaRPr lang="en-US" altLang="zh-TW" dirty="0">
              <a:latin typeface="fkGroteskNeue"/>
            </a:endParaRPr>
          </a:p>
          <a:p>
            <a:pPr algn="l"/>
            <a:r>
              <a:rPr lang="zh-TW" altLang="en-US" b="0" i="0" dirty="0">
                <a:effectLst/>
                <a:latin typeface="fkGroteskNeue"/>
              </a:rPr>
              <a:t>平靜的市場數據可能只分解出 </a:t>
            </a:r>
            <a:r>
              <a:rPr lang="en-US" altLang="zh-TW" b="0" i="0" dirty="0">
                <a:effectLst/>
                <a:latin typeface="fkGroteskNeue"/>
              </a:rPr>
              <a:t>4 </a:t>
            </a:r>
            <a:r>
              <a:rPr lang="zh-TW" altLang="en-US" b="0" i="0" dirty="0">
                <a:effectLst/>
                <a:latin typeface="fkGroteskNeue"/>
              </a:rPr>
              <a:t>層。</a:t>
            </a:r>
          </a:p>
          <a:p>
            <a:pPr algn="l"/>
            <a:r>
              <a:rPr lang="zh-TW" altLang="en-US" b="0" i="0" dirty="0">
                <a:effectLst/>
                <a:latin typeface="fkGroteskNeue"/>
              </a:rPr>
              <a:t>劇烈震盪的市場數據可能分解出 </a:t>
            </a:r>
            <a:r>
              <a:rPr lang="en-US" altLang="zh-TW" b="0" i="0" dirty="0">
                <a:effectLst/>
                <a:latin typeface="fkGroteskNeue"/>
              </a:rPr>
              <a:t>7 </a:t>
            </a:r>
            <a:r>
              <a:rPr lang="zh-TW" altLang="en-US" b="0" i="0" dirty="0">
                <a:effectLst/>
                <a:latin typeface="fkGroteskNeue"/>
              </a:rPr>
              <a:t>層。</a:t>
            </a:r>
            <a:endParaRPr lang="en-US" altLang="zh-TW" b="0" i="0" dirty="0">
              <a:effectLst/>
              <a:latin typeface="fkGroteskNeue"/>
            </a:endParaRPr>
          </a:p>
          <a:p>
            <a:pPr algn="l"/>
            <a:endParaRPr lang="en-US" altLang="zh-TW" dirty="0">
              <a:latin typeface="fkGroteskNeue"/>
            </a:endParaRPr>
          </a:p>
          <a:p>
            <a:pPr algn="l"/>
            <a:r>
              <a:rPr lang="en-US" altLang="zh-TW" b="0" i="0" dirty="0">
                <a:effectLst/>
                <a:latin typeface="fkGroteskNeue"/>
              </a:rPr>
              <a:t>Train Set </a:t>
            </a:r>
            <a:r>
              <a:rPr lang="zh-TW" altLang="en-US" b="0" i="0" dirty="0">
                <a:effectLst/>
                <a:latin typeface="fkGroteskNeue"/>
              </a:rPr>
              <a:t>分出 </a:t>
            </a:r>
            <a:r>
              <a:rPr lang="en-US" altLang="zh-TW" b="0" i="0" dirty="0">
                <a:effectLst/>
                <a:latin typeface="fkGroteskNeue"/>
              </a:rPr>
              <a:t>7 </a:t>
            </a:r>
            <a:r>
              <a:rPr lang="zh-TW" altLang="en-US" b="0" i="0" dirty="0">
                <a:effectLst/>
                <a:latin typeface="fkGroteskNeue"/>
              </a:rPr>
              <a:t>層，</a:t>
            </a:r>
            <a:r>
              <a:rPr lang="en-US" altLang="zh-TW" b="0" i="0" dirty="0">
                <a:effectLst/>
                <a:latin typeface="fkGroteskNeue"/>
              </a:rPr>
              <a:t>Test Set </a:t>
            </a:r>
            <a:r>
              <a:rPr lang="zh-TW" altLang="en-US" b="0" i="0" dirty="0">
                <a:effectLst/>
                <a:latin typeface="fkGroteskNeue"/>
              </a:rPr>
              <a:t>只有 </a:t>
            </a:r>
            <a:r>
              <a:rPr lang="en-US" altLang="zh-TW" b="0" i="0" dirty="0">
                <a:effectLst/>
                <a:latin typeface="fkGroteskNeue"/>
              </a:rPr>
              <a:t>6 </a:t>
            </a:r>
            <a:r>
              <a:rPr lang="zh-TW" altLang="en-US" b="0" i="0" dirty="0">
                <a:effectLst/>
                <a:latin typeface="fkGroteskNeue"/>
              </a:rPr>
              <a:t>層，導致特徵維度不匹配，</a:t>
            </a:r>
            <a:endParaRPr lang="en-US" altLang="zh-TW" b="0" i="0" dirty="0">
              <a:effectLst/>
              <a:latin typeface="fkGroteskNeue"/>
            </a:endParaRPr>
          </a:p>
          <a:p>
            <a:pPr algn="l"/>
            <a:r>
              <a:rPr lang="zh-TW" altLang="en-US" b="0" i="0" dirty="0">
                <a:effectLst/>
                <a:latin typeface="fkGroteskNeue"/>
              </a:rPr>
              <a:t>必須手動寫複雜的代碼來截斷或合併，破壞了數據的完整性。</a:t>
            </a:r>
            <a:endParaRPr lang="en-US" altLang="zh-TW" b="0" i="0" dirty="0">
              <a:effectLst/>
              <a:latin typeface="fkGroteskNeue"/>
            </a:endParaRPr>
          </a:p>
          <a:p>
            <a:pPr algn="l"/>
            <a:endParaRPr lang="en-US" altLang="zh-TW" dirty="0">
              <a:latin typeface="fkGroteskNeue"/>
            </a:endParaRPr>
          </a:p>
          <a:p>
            <a:r>
              <a:rPr lang="zh-TW" altLang="en-US" b="0" i="0" dirty="0">
                <a:effectLst/>
                <a:latin typeface="fkGroteskNeue"/>
              </a:rPr>
              <a:t>如果在切分 </a:t>
            </a:r>
            <a:r>
              <a:rPr lang="en-US" altLang="zh-TW" b="0" i="0" dirty="0">
                <a:effectLst/>
                <a:latin typeface="fkGroteskNeue"/>
              </a:rPr>
              <a:t>Train/Test </a:t>
            </a:r>
            <a:r>
              <a:rPr lang="zh-TW" altLang="en-US" b="0" i="0" dirty="0">
                <a:effectLst/>
                <a:latin typeface="fkGroteskNeue"/>
              </a:rPr>
              <a:t>之前就對「整個序列」做 </a:t>
            </a:r>
            <a:r>
              <a:rPr lang="en-US" altLang="zh-TW" b="0" i="0" dirty="0">
                <a:effectLst/>
                <a:latin typeface="fkGroteskNeue"/>
              </a:rPr>
              <a:t>EMD</a:t>
            </a:r>
            <a:r>
              <a:rPr lang="zh-TW" altLang="en-US" b="0" i="0" dirty="0">
                <a:effectLst/>
                <a:latin typeface="fkGroteskNeue"/>
              </a:rPr>
              <a:t> </a:t>
            </a:r>
            <a:r>
              <a:rPr lang="zh-TW" altLang="en-US" dirty="0">
                <a:latin typeface="fkGroteskNeue"/>
              </a:rPr>
              <a:t>會造成</a:t>
            </a:r>
            <a:r>
              <a:rPr lang="zh-TW" altLang="en-US" b="0" i="0" dirty="0">
                <a:effectLst/>
                <a:latin typeface="fkGroteskNeue"/>
              </a:rPr>
              <a:t>資料洩漏</a:t>
            </a:r>
            <a:endParaRPr lang="en-US" altLang="zh-TW" b="0" i="0" dirty="0">
              <a:effectLst/>
              <a:latin typeface="fkGroteskNeue"/>
            </a:endParaRPr>
          </a:p>
          <a:p>
            <a:pPr algn="l"/>
            <a:endParaRPr lang="zh-TW" altLang="en-US" b="0" i="0" dirty="0">
              <a:effectLst/>
              <a:latin typeface="fkGroteskNeue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2484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3D74099-27EB-4036-A96B-A6B34D7511B6}"/>
              </a:ext>
            </a:extLst>
          </p:cNvPr>
          <p:cNvSpPr txBox="1"/>
          <p:nvPr/>
        </p:nvSpPr>
        <p:spPr>
          <a:xfrm>
            <a:off x="2201333" y="1787857"/>
            <a:ext cx="86585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effectLst/>
                <a:latin typeface="fkGroteskNeue"/>
              </a:rPr>
              <a:t>VMD (Variational Mode Decomposition)</a:t>
            </a:r>
          </a:p>
          <a:p>
            <a:r>
              <a:rPr lang="zh-TW" altLang="en-US" b="0" i="0" dirty="0">
                <a:effectLst/>
                <a:latin typeface="fkGroteskNeue"/>
              </a:rPr>
              <a:t>變分理論 </a:t>
            </a:r>
            <a:r>
              <a:rPr lang="en-US" altLang="zh-TW" b="0" i="0" dirty="0">
                <a:effectLst/>
                <a:latin typeface="fkGroteskNeue"/>
              </a:rPr>
              <a:t>(Variational Calculus)</a:t>
            </a:r>
            <a:r>
              <a:rPr lang="zh-TW" altLang="en-US" b="0" i="0" dirty="0">
                <a:effectLst/>
                <a:latin typeface="fkGroteskNeue"/>
              </a:rPr>
              <a:t>。將分解問題定義為一個「約束優化問題」，尋找頻域中最優的中心頻率與頻寬。</a:t>
            </a:r>
            <a:endParaRPr lang="en-US" altLang="zh-TW" b="0" i="0" dirty="0">
              <a:effectLst/>
              <a:latin typeface="fkGroteskNeue"/>
            </a:endParaRPr>
          </a:p>
          <a:p>
            <a:endParaRPr lang="en-US" altLang="zh-TW" dirty="0">
              <a:latin typeface="fkGroteskNeue"/>
            </a:endParaRPr>
          </a:p>
          <a:p>
            <a:r>
              <a:rPr lang="en-US" altLang="zh-TW" b="0" i="0" dirty="0">
                <a:effectLst/>
                <a:latin typeface="fkGroteskNeue"/>
              </a:rPr>
              <a:t>Train Set </a:t>
            </a:r>
            <a:r>
              <a:rPr lang="zh-TW" altLang="en-US" b="0" i="0" dirty="0">
                <a:effectLst/>
                <a:latin typeface="fkGroteskNeue"/>
              </a:rPr>
              <a:t>，</a:t>
            </a:r>
            <a:r>
              <a:rPr lang="en-US" altLang="zh-TW" b="0" i="0" dirty="0">
                <a:effectLst/>
                <a:latin typeface="fkGroteskNeue"/>
              </a:rPr>
              <a:t>Test Set </a:t>
            </a:r>
            <a:r>
              <a:rPr lang="zh-TW" altLang="en-US" b="0" i="0" dirty="0">
                <a:effectLst/>
                <a:latin typeface="fkGroteskNeue"/>
              </a:rPr>
              <a:t>，特徵</a:t>
            </a:r>
            <a:r>
              <a:rPr lang="zh-TW" altLang="en-US" dirty="0">
                <a:latin typeface="fkGroteskNeue"/>
              </a:rPr>
              <a:t>維度根據設定可以</a:t>
            </a:r>
            <a:r>
              <a:rPr lang="zh-TW" altLang="en-US" b="0" i="0" dirty="0">
                <a:effectLst/>
                <a:latin typeface="fkGroteskNeue"/>
              </a:rPr>
              <a:t>匹配。</a:t>
            </a:r>
            <a:endParaRPr lang="en-US" altLang="zh-TW" b="0" i="0" dirty="0">
              <a:effectLst/>
              <a:latin typeface="fkGroteskNeue"/>
            </a:endParaRPr>
          </a:p>
          <a:p>
            <a:endParaRPr lang="en-US" altLang="zh-TW" dirty="0">
              <a:latin typeface="fkGroteskNeue"/>
            </a:endParaRPr>
          </a:p>
          <a:p>
            <a:r>
              <a:rPr lang="en-US" altLang="zh-TW" b="0" i="0" dirty="0">
                <a:effectLst/>
                <a:latin typeface="fkGroteskNeue"/>
              </a:rPr>
              <a:t>VMD </a:t>
            </a:r>
            <a:r>
              <a:rPr lang="zh-TW" altLang="en-US" b="0" i="0" dirty="0">
                <a:effectLst/>
                <a:latin typeface="fkGroteskNeue"/>
              </a:rPr>
              <a:t>必須預先設定參數，如果設錯，效果會很差。</a:t>
            </a:r>
            <a:endParaRPr lang="en-US" altLang="zh-TW" b="0" i="0" dirty="0">
              <a:effectLst/>
              <a:latin typeface="fkGroteskNeue"/>
            </a:endParaRPr>
          </a:p>
          <a:p>
            <a:r>
              <a:rPr lang="zh-TW" altLang="en-US" b="0" i="0" dirty="0">
                <a:effectLst/>
                <a:latin typeface="fkGroteskNeue"/>
              </a:rPr>
              <a:t>設太小（欠分解）：不同頻率的訊號會擠在同一層，導致模態混疊。</a:t>
            </a:r>
            <a:endParaRPr lang="en-US" altLang="zh-TW" dirty="0">
              <a:latin typeface="fkGroteskNeue"/>
            </a:endParaRPr>
          </a:p>
          <a:p>
            <a:r>
              <a:rPr lang="zh-TW" altLang="en-US" b="0" i="0" dirty="0">
                <a:effectLst/>
                <a:latin typeface="fkGroteskNeue"/>
              </a:rPr>
              <a:t>設太大（過分解）：同一個物理訊號會被硬拆成兩層，或者產生虛假的雜訊層 。</a:t>
            </a:r>
            <a:endParaRPr lang="en-US" altLang="zh-TW" b="0" i="0" dirty="0">
              <a:effectLst/>
              <a:latin typeface="fkGroteskNeue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73985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533231C-962A-4106-81FD-09BD10C22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842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0532EC4-E1C1-4C13-B5C8-4490711D9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78" y="323496"/>
            <a:ext cx="11367911" cy="603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991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7A26A43-0418-41E3-A0BA-11CB87E9A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73" y="337961"/>
            <a:ext cx="11636853" cy="618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869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3416064-C275-4DE6-AF25-77B3F327A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11" y="349250"/>
            <a:ext cx="11594353" cy="615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27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7321BE0-49BA-4A06-A657-10C03A1F7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2" y="383116"/>
            <a:ext cx="11466856" cy="609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53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05E069D-5D5E-4C2B-9531-68F7F5299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68" y="541161"/>
            <a:ext cx="10871864" cy="577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306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00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614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247</Words>
  <Application>Microsoft Office PowerPoint</Application>
  <PresentationFormat>寬螢幕</PresentationFormat>
  <Paragraphs>31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fkGroteskNeue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廖添富</dc:creator>
  <cp:lastModifiedBy>廖添富</cp:lastModifiedBy>
  <cp:revision>15</cp:revision>
  <dcterms:created xsi:type="dcterms:W3CDTF">2025-12-22T12:36:43Z</dcterms:created>
  <dcterms:modified xsi:type="dcterms:W3CDTF">2025-12-29T16:42:59Z</dcterms:modified>
</cp:coreProperties>
</file>